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Noto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NotoSans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NotoSans-italic.fntdata"/><Relationship Id="rId25" Type="http://schemas.openxmlformats.org/officeDocument/2006/relationships/font" Target="fonts/NotoSans-bold.fntdata"/><Relationship Id="rId27" Type="http://schemas.openxmlformats.org/officeDocument/2006/relationships/font" Target="fonts/Noto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9ac752b51f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9ac752b51f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aa8bf66fe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aa8bf66fe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aa8bf66fe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1aa8bf66fe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aa98c3883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1aa98c3883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aa98c3883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1aa98c3883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aa98c38833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1aa98c3883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aa98c38833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1aa98c38833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aa98c38833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1aa98c38833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aa98c38833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1aa98c38833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9909c2fb79_4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19909c2fb79_4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ab148207b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1ab148207b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ab148207b2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1ab148207b2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ab148207b2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1ab148207b2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1ab148207b2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1ab148207b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ab148207b2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1ab148207b2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aa98c38833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1aa98c38833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1ab148207b2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1ab148207b2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623888" y="3442097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629841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629841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Noto Sans"/>
                <a:ea typeface="Noto Sans"/>
                <a:cs typeface="Noto Sans"/>
                <a:sym typeface="Noto Sans"/>
              </a:rPr>
              <a:t>Modelo E-R Extendido</a:t>
            </a:r>
            <a:endParaRPr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143000" y="3130154"/>
            <a:ext cx="6858000" cy="1241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lang="es-419">
                <a:latin typeface="Noto Sans"/>
                <a:ea typeface="Noto Sans"/>
                <a:cs typeface="Noto Sans"/>
                <a:sym typeface="Noto Sans"/>
              </a:rPr>
              <a:t>Bases de Datos I</a:t>
            </a:r>
            <a:endParaRPr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lang="es-419">
                <a:latin typeface="Noto Sans"/>
                <a:ea typeface="Noto Sans"/>
                <a:cs typeface="Noto Sans"/>
                <a:sym typeface="Noto Sans"/>
              </a:rPr>
              <a:t>Ingeniería de Sistemas</a:t>
            </a:r>
            <a:endParaRPr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1143000" y="147975"/>
            <a:ext cx="2949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rgbClr val="999999"/>
                </a:solidFill>
                <a:latin typeface="Noto Sans"/>
                <a:ea typeface="Noto Sans"/>
                <a:cs typeface="Noto Sans"/>
                <a:sym typeface="Noto Sans"/>
              </a:rPr>
              <a:t>Bases de Datos I - Ing. Nury Farelo</a:t>
            </a:r>
            <a:endParaRPr sz="1000">
              <a:solidFill>
                <a:srgbClr val="999999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/>
        </p:nvSpPr>
        <p:spPr>
          <a:xfrm>
            <a:off x="1173450" y="442200"/>
            <a:ext cx="6797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600">
                <a:solidFill>
                  <a:srgbClr val="6AA84F"/>
                </a:solidFill>
                <a:latin typeface="Noto Sans"/>
                <a:ea typeface="Noto Sans"/>
                <a:cs typeface="Noto Sans"/>
                <a:sym typeface="Noto Sans"/>
              </a:rPr>
              <a:t>Recordemos…</a:t>
            </a:r>
            <a:endParaRPr b="1" sz="2600">
              <a:solidFill>
                <a:srgbClr val="6AA84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1076400" y="1081750"/>
            <a:ext cx="69912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latin typeface="Noto Sans"/>
                <a:ea typeface="Noto Sans"/>
                <a:cs typeface="Noto Sans"/>
                <a:sym typeface="Noto Sans"/>
              </a:rPr>
              <a:t>Valores que puede tomar la participación entre entidades.</a:t>
            </a:r>
            <a:br>
              <a:rPr b="1" lang="es-419" sz="2000">
                <a:latin typeface="Noto Sans"/>
                <a:ea typeface="Noto Sans"/>
                <a:cs typeface="Noto Sans"/>
                <a:sym typeface="Noto Sans"/>
              </a:rPr>
            </a:br>
            <a:endParaRPr b="1" sz="2000">
              <a:latin typeface="Noto Sans"/>
              <a:ea typeface="Noto Sans"/>
              <a:cs typeface="Noto Sans"/>
              <a:sym typeface="Noto Sans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Noto Sans"/>
              <a:buChar char="●"/>
            </a:pPr>
            <a:r>
              <a:rPr b="1" lang="es-419" sz="1700">
                <a:latin typeface="Noto Sans"/>
                <a:ea typeface="Noto Sans"/>
                <a:cs typeface="Noto Sans"/>
                <a:sym typeface="Noto Sans"/>
              </a:rPr>
              <a:t>(0,1)</a:t>
            </a:r>
            <a:r>
              <a:rPr lang="es-419" sz="1700">
                <a:latin typeface="Noto Sans"/>
                <a:ea typeface="Noto Sans"/>
                <a:cs typeface="Noto Sans"/>
                <a:sym typeface="Noto Sans"/>
              </a:rPr>
              <a:t>. Mínimo cero, máximo 1.</a:t>
            </a:r>
            <a:endParaRPr sz="1700">
              <a:latin typeface="Noto Sans"/>
              <a:ea typeface="Noto Sans"/>
              <a:cs typeface="Noto Sans"/>
              <a:sym typeface="Noto Sans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Noto Sans"/>
              <a:buChar char="●"/>
            </a:pPr>
            <a:r>
              <a:rPr b="1" lang="es-419" sz="1700">
                <a:latin typeface="Noto Sans"/>
                <a:ea typeface="Noto Sans"/>
                <a:cs typeface="Noto Sans"/>
                <a:sym typeface="Noto Sans"/>
              </a:rPr>
              <a:t>(1,1)</a:t>
            </a:r>
            <a:r>
              <a:rPr lang="es-419" sz="1700">
                <a:latin typeface="Noto Sans"/>
                <a:ea typeface="Noto Sans"/>
                <a:cs typeface="Noto Sans"/>
                <a:sym typeface="Noto Sans"/>
              </a:rPr>
              <a:t>. Mínimo 1 máximo 1.</a:t>
            </a:r>
            <a:endParaRPr sz="1700">
              <a:latin typeface="Noto Sans"/>
              <a:ea typeface="Noto Sans"/>
              <a:cs typeface="Noto Sans"/>
              <a:sym typeface="Noto Sans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Noto Sans"/>
              <a:buChar char="●"/>
            </a:pPr>
            <a:r>
              <a:rPr b="1" lang="es-419" sz="1700">
                <a:latin typeface="Noto Sans"/>
                <a:ea typeface="Noto Sans"/>
                <a:cs typeface="Noto Sans"/>
                <a:sym typeface="Noto Sans"/>
              </a:rPr>
              <a:t>(0,n)</a:t>
            </a:r>
            <a:r>
              <a:rPr lang="es-419" sz="1700">
                <a:latin typeface="Noto Sans"/>
                <a:ea typeface="Noto Sans"/>
                <a:cs typeface="Noto Sans"/>
                <a:sym typeface="Noto Sans"/>
              </a:rPr>
              <a:t>. Como mínimo cero, como máximo muchas veces.</a:t>
            </a:r>
            <a:endParaRPr sz="1700">
              <a:latin typeface="Noto Sans"/>
              <a:ea typeface="Noto Sans"/>
              <a:cs typeface="Noto Sans"/>
              <a:sym typeface="Noto Sans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Noto Sans"/>
              <a:buChar char="●"/>
            </a:pPr>
            <a:r>
              <a:rPr b="1" lang="es-419" sz="1700">
                <a:latin typeface="Noto Sans"/>
                <a:ea typeface="Noto Sans"/>
                <a:cs typeface="Noto Sans"/>
                <a:sym typeface="Noto Sans"/>
              </a:rPr>
              <a:t>(1,n)</a:t>
            </a:r>
            <a:r>
              <a:rPr lang="es-419" sz="1700">
                <a:latin typeface="Noto Sans"/>
                <a:ea typeface="Noto Sans"/>
                <a:cs typeface="Noto Sans"/>
                <a:sym typeface="Noto Sans"/>
              </a:rPr>
              <a:t>. Uno como mínimo, máximo muchas veces.</a:t>
            </a:r>
            <a:endParaRPr sz="1700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1173450" y="4804800"/>
            <a:ext cx="2949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rgbClr val="999999"/>
                </a:solidFill>
                <a:latin typeface="Noto Sans"/>
                <a:ea typeface="Noto Sans"/>
                <a:cs typeface="Noto Sans"/>
                <a:sym typeface="Noto Sans"/>
              </a:rPr>
              <a:t>Bases de Datos I - Ing. Nury Farelo</a:t>
            </a:r>
            <a:endParaRPr sz="1000">
              <a:solidFill>
                <a:srgbClr val="999999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/>
        </p:nvSpPr>
        <p:spPr>
          <a:xfrm>
            <a:off x="1173450" y="442200"/>
            <a:ext cx="6797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600">
                <a:solidFill>
                  <a:srgbClr val="6AA84F"/>
                </a:solidFill>
                <a:latin typeface="Noto Sans"/>
                <a:ea typeface="Noto Sans"/>
                <a:cs typeface="Noto Sans"/>
                <a:sym typeface="Noto Sans"/>
              </a:rPr>
              <a:t>Recordemos…</a:t>
            </a:r>
            <a:endParaRPr b="1" sz="2600">
              <a:solidFill>
                <a:srgbClr val="6AA84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99" name="Google Shape;9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51713"/>
            <a:ext cx="8839201" cy="1640086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/>
        </p:nvSpPr>
        <p:spPr>
          <a:xfrm>
            <a:off x="1173450" y="4804800"/>
            <a:ext cx="2949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rgbClr val="999999"/>
                </a:solidFill>
                <a:latin typeface="Noto Sans"/>
                <a:ea typeface="Noto Sans"/>
                <a:cs typeface="Noto Sans"/>
                <a:sym typeface="Noto Sans"/>
              </a:rPr>
              <a:t>Bases de Datos I - Ing. Nury Farelo</a:t>
            </a:r>
            <a:endParaRPr sz="1000">
              <a:solidFill>
                <a:srgbClr val="999999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/>
        </p:nvSpPr>
        <p:spPr>
          <a:xfrm>
            <a:off x="1173450" y="442200"/>
            <a:ext cx="6797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600">
                <a:solidFill>
                  <a:srgbClr val="6AA84F"/>
                </a:solidFill>
                <a:latin typeface="Noto Sans"/>
                <a:ea typeface="Noto Sans"/>
                <a:cs typeface="Noto Sans"/>
                <a:sym typeface="Noto Sans"/>
              </a:rPr>
              <a:t>Especialización y generalización</a:t>
            </a:r>
            <a:endParaRPr b="1" sz="2600">
              <a:solidFill>
                <a:srgbClr val="6AA84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6" name="Google Shape;106;p16"/>
          <p:cNvSpPr txBox="1"/>
          <p:nvPr/>
        </p:nvSpPr>
        <p:spPr>
          <a:xfrm>
            <a:off x="1076400" y="1338525"/>
            <a:ext cx="6991200" cy="24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200">
                <a:latin typeface="Noto Sans"/>
                <a:ea typeface="Noto Sans"/>
                <a:cs typeface="Noto Sans"/>
                <a:sym typeface="Noto Sans"/>
              </a:rPr>
              <a:t>Especialización</a:t>
            </a:r>
            <a:r>
              <a:rPr b="1" lang="es-419" sz="2200">
                <a:latin typeface="Noto Sans"/>
                <a:ea typeface="Noto Sans"/>
                <a:cs typeface="Noto Sans"/>
                <a:sym typeface="Noto Sans"/>
              </a:rPr>
              <a:t>:</a:t>
            </a:r>
            <a:endParaRPr b="1" sz="2200"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latin typeface="Noto Sans"/>
                <a:ea typeface="Noto Sans"/>
                <a:cs typeface="Noto Sans"/>
                <a:sym typeface="Noto Sans"/>
              </a:rPr>
              <a:t>Los conjuntos de entidades pueden incluir subgrupos de entidades que se diferencian de alguna forma de las demás entidades del conjunto.</a:t>
            </a:r>
            <a:endParaRPr sz="1800"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1173450" y="4804800"/>
            <a:ext cx="2949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rgbClr val="999999"/>
                </a:solidFill>
                <a:latin typeface="Noto Sans"/>
                <a:ea typeface="Noto Sans"/>
                <a:cs typeface="Noto Sans"/>
                <a:sym typeface="Noto Sans"/>
              </a:rPr>
              <a:t>Bases de Datos I - Ing. Nury Farelo</a:t>
            </a:r>
            <a:endParaRPr sz="1000">
              <a:solidFill>
                <a:srgbClr val="999999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/>
        </p:nvSpPr>
        <p:spPr>
          <a:xfrm>
            <a:off x="1173450" y="442200"/>
            <a:ext cx="6797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600">
                <a:solidFill>
                  <a:srgbClr val="6AA84F"/>
                </a:solidFill>
                <a:latin typeface="Noto Sans"/>
                <a:ea typeface="Noto Sans"/>
                <a:cs typeface="Noto Sans"/>
                <a:sym typeface="Noto Sans"/>
              </a:rPr>
              <a:t>Especialización y generalización</a:t>
            </a:r>
            <a:endParaRPr b="1" sz="2600">
              <a:solidFill>
                <a:srgbClr val="6AA84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3" name="Google Shape;113;p17"/>
          <p:cNvSpPr txBox="1"/>
          <p:nvPr/>
        </p:nvSpPr>
        <p:spPr>
          <a:xfrm>
            <a:off x="1076400" y="1081750"/>
            <a:ext cx="69912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200">
                <a:latin typeface="Noto Sans"/>
                <a:ea typeface="Noto Sans"/>
                <a:cs typeface="Noto Sans"/>
                <a:sym typeface="Noto Sans"/>
              </a:rPr>
              <a:t>Especialización:</a:t>
            </a:r>
            <a:endParaRPr b="1" sz="2200"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14" name="Google Shape;11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0025" y="1877638"/>
            <a:ext cx="3715399" cy="2242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9251" y="1937726"/>
            <a:ext cx="3495600" cy="2026402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7"/>
          <p:cNvSpPr txBox="1"/>
          <p:nvPr/>
        </p:nvSpPr>
        <p:spPr>
          <a:xfrm>
            <a:off x="1173450" y="4804800"/>
            <a:ext cx="2949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rgbClr val="999999"/>
                </a:solidFill>
                <a:latin typeface="Noto Sans"/>
                <a:ea typeface="Noto Sans"/>
                <a:cs typeface="Noto Sans"/>
                <a:sym typeface="Noto Sans"/>
              </a:rPr>
              <a:t>Bases de Datos I - Ing. Nury Farelo</a:t>
            </a:r>
            <a:endParaRPr sz="1000">
              <a:solidFill>
                <a:srgbClr val="999999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/>
          <p:nvPr/>
        </p:nvSpPr>
        <p:spPr>
          <a:xfrm>
            <a:off x="1173450" y="442200"/>
            <a:ext cx="6797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600">
                <a:solidFill>
                  <a:srgbClr val="6AA84F"/>
                </a:solidFill>
                <a:latin typeface="Noto Sans"/>
                <a:ea typeface="Noto Sans"/>
                <a:cs typeface="Noto Sans"/>
                <a:sym typeface="Noto Sans"/>
              </a:rPr>
              <a:t>Especialización y generalización</a:t>
            </a:r>
            <a:endParaRPr b="1" sz="2600">
              <a:solidFill>
                <a:srgbClr val="6AA84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2" name="Google Shape;122;p18"/>
          <p:cNvSpPr txBox="1"/>
          <p:nvPr/>
        </p:nvSpPr>
        <p:spPr>
          <a:xfrm>
            <a:off x="1076400" y="1145950"/>
            <a:ext cx="69912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200">
                <a:latin typeface="Noto Sans"/>
                <a:ea typeface="Noto Sans"/>
                <a:cs typeface="Noto Sans"/>
                <a:sym typeface="Noto Sans"/>
              </a:rPr>
              <a:t>Especialización:</a:t>
            </a:r>
            <a:endParaRPr b="1" sz="2200"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latin typeface="Noto Sans"/>
                <a:ea typeface="Noto Sans"/>
                <a:cs typeface="Noto Sans"/>
                <a:sym typeface="Noto Sans"/>
              </a:rPr>
              <a:t>Se puede aplicar repetidamente la especialización para refinar el esquema de diseño.</a:t>
            </a:r>
            <a:endParaRPr sz="1800"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23" name="Google Shape;12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5625" y="2810813"/>
            <a:ext cx="3514424" cy="142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47050" y="2873578"/>
            <a:ext cx="2293900" cy="130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8"/>
          <p:cNvSpPr txBox="1"/>
          <p:nvPr/>
        </p:nvSpPr>
        <p:spPr>
          <a:xfrm>
            <a:off x="1173450" y="4804800"/>
            <a:ext cx="2949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rgbClr val="999999"/>
                </a:solidFill>
                <a:latin typeface="Noto Sans"/>
                <a:ea typeface="Noto Sans"/>
                <a:cs typeface="Noto Sans"/>
                <a:sym typeface="Noto Sans"/>
              </a:rPr>
              <a:t>Bases de Datos I - Ing. Nury Farelo</a:t>
            </a:r>
            <a:endParaRPr sz="1000">
              <a:solidFill>
                <a:srgbClr val="999999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/>
          <p:nvPr/>
        </p:nvSpPr>
        <p:spPr>
          <a:xfrm>
            <a:off x="1173450" y="442200"/>
            <a:ext cx="6797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600">
                <a:solidFill>
                  <a:srgbClr val="6AA84F"/>
                </a:solidFill>
                <a:latin typeface="Noto Sans"/>
                <a:ea typeface="Noto Sans"/>
                <a:cs typeface="Noto Sans"/>
                <a:sym typeface="Noto Sans"/>
              </a:rPr>
              <a:t>Especialización y generalización</a:t>
            </a:r>
            <a:endParaRPr b="1" sz="2600">
              <a:solidFill>
                <a:srgbClr val="6AA84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1" name="Google Shape;131;p19"/>
          <p:cNvSpPr txBox="1"/>
          <p:nvPr/>
        </p:nvSpPr>
        <p:spPr>
          <a:xfrm>
            <a:off x="1076400" y="1064400"/>
            <a:ext cx="6991200" cy="4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200">
                <a:latin typeface="Noto Sans"/>
                <a:ea typeface="Noto Sans"/>
                <a:cs typeface="Noto Sans"/>
                <a:sym typeface="Noto Sans"/>
              </a:rPr>
              <a:t>Especialización:</a:t>
            </a:r>
            <a:endParaRPr b="1" sz="2200"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latin typeface="Noto Sans"/>
                <a:ea typeface="Noto Sans"/>
                <a:cs typeface="Noto Sans"/>
                <a:sym typeface="Noto Sans"/>
              </a:rPr>
              <a:t>Una entidad en particular puede pertenecer a varias especializaciones</a:t>
            </a:r>
            <a:br>
              <a:rPr lang="es-419" sz="1800">
                <a:latin typeface="Noto Sans"/>
                <a:ea typeface="Noto Sans"/>
                <a:cs typeface="Noto Sans"/>
                <a:sym typeface="Noto Sans"/>
              </a:rPr>
            </a:br>
            <a:endParaRPr sz="1800">
              <a:latin typeface="Noto Sans"/>
              <a:ea typeface="Noto Sans"/>
              <a:cs typeface="Noto Sans"/>
              <a:sym typeface="Noto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Noto Sans"/>
              <a:buChar char="●"/>
            </a:pPr>
            <a:r>
              <a:rPr lang="es-419" sz="1800">
                <a:latin typeface="Noto Sans"/>
                <a:ea typeface="Noto Sans"/>
                <a:cs typeface="Noto Sans"/>
                <a:sym typeface="Noto Sans"/>
              </a:rPr>
              <a:t>Una empleada puede ser empleada temporal y secretaria</a:t>
            </a:r>
            <a:endParaRPr sz="1800"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latin typeface="Noto Sans"/>
                <a:ea typeface="Noto Sans"/>
                <a:cs typeface="Noto Sans"/>
                <a:sym typeface="Noto Sans"/>
              </a:rPr>
              <a:t>Diseño descendente</a:t>
            </a:r>
            <a:r>
              <a:rPr lang="es-419" sz="1800">
                <a:latin typeface="Noto Sans"/>
                <a:ea typeface="Noto Sans"/>
                <a:cs typeface="Noto Sans"/>
                <a:sym typeface="Noto Sans"/>
              </a:rPr>
              <a:t>  </a:t>
            </a:r>
            <a:endParaRPr sz="1800"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latin typeface="Noto Sans"/>
                <a:ea typeface="Noto Sans"/>
                <a:cs typeface="Noto Sans"/>
                <a:sym typeface="Noto Sans"/>
              </a:rPr>
              <a:t>refinamiento a partir de un conjunto de entidades inicial en sucesivos niveles</a:t>
            </a:r>
            <a:endParaRPr sz="1800"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2" name="Google Shape;132;p19"/>
          <p:cNvSpPr txBox="1"/>
          <p:nvPr/>
        </p:nvSpPr>
        <p:spPr>
          <a:xfrm>
            <a:off x="1173450" y="4804800"/>
            <a:ext cx="2949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rgbClr val="999999"/>
                </a:solidFill>
                <a:latin typeface="Noto Sans"/>
                <a:ea typeface="Noto Sans"/>
                <a:cs typeface="Noto Sans"/>
                <a:sym typeface="Noto Sans"/>
              </a:rPr>
              <a:t>Bases de Datos I - Ing. Nury Farelo</a:t>
            </a:r>
            <a:endParaRPr sz="1000">
              <a:solidFill>
                <a:srgbClr val="999999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 txBox="1"/>
          <p:nvPr/>
        </p:nvSpPr>
        <p:spPr>
          <a:xfrm>
            <a:off x="1216050" y="103500"/>
            <a:ext cx="2949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rgbClr val="999999"/>
                </a:solidFill>
                <a:latin typeface="Noto Sans"/>
                <a:ea typeface="Noto Sans"/>
                <a:cs typeface="Noto Sans"/>
                <a:sym typeface="Noto Sans"/>
              </a:rPr>
              <a:t>Bases de Datos I - Ing. Nury Farelo</a:t>
            </a:r>
            <a:endParaRPr sz="1000">
              <a:solidFill>
                <a:srgbClr val="999999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38" name="Google Shape;13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2913" y="442200"/>
            <a:ext cx="4638175" cy="4478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 txBox="1"/>
          <p:nvPr/>
        </p:nvSpPr>
        <p:spPr>
          <a:xfrm>
            <a:off x="1173450" y="442200"/>
            <a:ext cx="6797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600">
                <a:solidFill>
                  <a:srgbClr val="6AA84F"/>
                </a:solidFill>
                <a:latin typeface="Noto Sans"/>
                <a:ea typeface="Noto Sans"/>
                <a:cs typeface="Noto Sans"/>
                <a:sym typeface="Noto Sans"/>
              </a:rPr>
              <a:t>Especialización y generalización</a:t>
            </a:r>
            <a:endParaRPr b="1" sz="2600">
              <a:solidFill>
                <a:srgbClr val="6AA84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4" name="Google Shape;144;p21"/>
          <p:cNvSpPr txBox="1"/>
          <p:nvPr/>
        </p:nvSpPr>
        <p:spPr>
          <a:xfrm>
            <a:off x="1076400" y="1338525"/>
            <a:ext cx="69912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200">
                <a:latin typeface="Noto Sans"/>
                <a:ea typeface="Noto Sans"/>
                <a:cs typeface="Noto Sans"/>
                <a:sym typeface="Noto Sans"/>
              </a:rPr>
              <a:t>Generalización</a:t>
            </a:r>
            <a:r>
              <a:rPr b="1" lang="es-419" sz="2200">
                <a:latin typeface="Noto Sans"/>
                <a:ea typeface="Noto Sans"/>
                <a:cs typeface="Noto Sans"/>
                <a:sym typeface="Noto Sans"/>
              </a:rPr>
              <a:t>:</a:t>
            </a:r>
            <a:endParaRPr b="1" sz="2200"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latin typeface="Noto Sans"/>
                <a:ea typeface="Noto Sans"/>
                <a:cs typeface="Noto Sans"/>
                <a:sym typeface="Noto Sans"/>
              </a:rPr>
              <a:t>La generalización es una inversión simple de la especialización</a:t>
            </a:r>
            <a:endParaRPr sz="1800"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latin typeface="Noto Sans"/>
                <a:ea typeface="Noto Sans"/>
                <a:cs typeface="Noto Sans"/>
                <a:sym typeface="Noto Sans"/>
              </a:rPr>
              <a:t>Diseño ascendente</a:t>
            </a:r>
            <a:br>
              <a:rPr lang="es-419" sz="1800">
                <a:latin typeface="Noto Sans"/>
                <a:ea typeface="Noto Sans"/>
                <a:cs typeface="Noto Sans"/>
                <a:sym typeface="Noto Sans"/>
              </a:rPr>
            </a:br>
            <a:endParaRPr sz="1800"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latin typeface="Noto Sans"/>
                <a:ea typeface="Noto Sans"/>
                <a:cs typeface="Noto Sans"/>
                <a:sym typeface="Noto Sans"/>
              </a:rPr>
              <a:t>Varios conjuntos de entidades se sintetizan en un conjunto de entidades de nivel más alto basado en características comunes.</a:t>
            </a:r>
            <a:endParaRPr sz="1800"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5" name="Google Shape;145;p21"/>
          <p:cNvSpPr txBox="1"/>
          <p:nvPr/>
        </p:nvSpPr>
        <p:spPr>
          <a:xfrm>
            <a:off x="1173450" y="4804800"/>
            <a:ext cx="2949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rgbClr val="999999"/>
                </a:solidFill>
                <a:latin typeface="Noto Sans"/>
                <a:ea typeface="Noto Sans"/>
                <a:cs typeface="Noto Sans"/>
                <a:sym typeface="Noto Sans"/>
              </a:rPr>
              <a:t>Bases de Datos I - Ing. Nury Farelo</a:t>
            </a:r>
            <a:endParaRPr sz="1000">
              <a:solidFill>
                <a:srgbClr val="999999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/>
          <p:nvPr/>
        </p:nvSpPr>
        <p:spPr>
          <a:xfrm>
            <a:off x="1238275" y="103500"/>
            <a:ext cx="2949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rgbClr val="999999"/>
                </a:solidFill>
                <a:latin typeface="Noto Sans"/>
                <a:ea typeface="Noto Sans"/>
                <a:cs typeface="Noto Sans"/>
                <a:sym typeface="Noto Sans"/>
              </a:rPr>
              <a:t>Bases de Datos I - Ing. Nury Farelo</a:t>
            </a:r>
            <a:endParaRPr sz="1000">
              <a:solidFill>
                <a:srgbClr val="999999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51" name="Google Shape;15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8450" y="442200"/>
            <a:ext cx="6467112" cy="4396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 txBox="1"/>
          <p:nvPr/>
        </p:nvSpPr>
        <p:spPr>
          <a:xfrm>
            <a:off x="1075275" y="11175"/>
            <a:ext cx="2949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rgbClr val="999999"/>
                </a:solidFill>
                <a:latin typeface="Noto Sans"/>
                <a:ea typeface="Noto Sans"/>
                <a:cs typeface="Noto Sans"/>
                <a:sym typeface="Noto Sans"/>
              </a:rPr>
              <a:t>Bases de Datos I - Ing. Nury Farelo</a:t>
            </a:r>
            <a:endParaRPr sz="1000">
              <a:solidFill>
                <a:srgbClr val="999999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57" name="Google Shape;15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9475" y="349875"/>
            <a:ext cx="4699899" cy="463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 txBox="1"/>
          <p:nvPr/>
        </p:nvSpPr>
        <p:spPr>
          <a:xfrm>
            <a:off x="1173450" y="442200"/>
            <a:ext cx="6797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600">
                <a:solidFill>
                  <a:srgbClr val="6AA84F"/>
                </a:solidFill>
                <a:latin typeface="Noto Sans"/>
                <a:ea typeface="Noto Sans"/>
                <a:cs typeface="Noto Sans"/>
                <a:sym typeface="Noto Sans"/>
              </a:rPr>
              <a:t>Agregación</a:t>
            </a:r>
            <a:endParaRPr b="1" sz="2600">
              <a:solidFill>
                <a:srgbClr val="6AA84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3" name="Google Shape;163;p24"/>
          <p:cNvSpPr txBox="1"/>
          <p:nvPr/>
        </p:nvSpPr>
        <p:spPr>
          <a:xfrm>
            <a:off x="1076413" y="1155700"/>
            <a:ext cx="69912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50">
                <a:solidFill>
                  <a:srgbClr val="333333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Una relación formada por entidades se comporta como entidad para relacionarse con otras entidades.</a:t>
            </a:r>
            <a:endParaRPr sz="2000"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64" name="Google Shape;16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9875" y="2082823"/>
            <a:ext cx="5504225" cy="237047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4"/>
          <p:cNvSpPr txBox="1"/>
          <p:nvPr/>
        </p:nvSpPr>
        <p:spPr>
          <a:xfrm>
            <a:off x="1173450" y="4804800"/>
            <a:ext cx="2949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rgbClr val="999999"/>
                </a:solidFill>
                <a:latin typeface="Noto Sans"/>
                <a:ea typeface="Noto Sans"/>
                <a:cs typeface="Noto Sans"/>
                <a:sym typeface="Noto Sans"/>
              </a:rPr>
              <a:t>Bases de Datos I - Ing. Nury Farelo</a:t>
            </a:r>
            <a:endParaRPr sz="1000">
              <a:solidFill>
                <a:srgbClr val="999999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/>
          <p:nvPr/>
        </p:nvSpPr>
        <p:spPr>
          <a:xfrm>
            <a:off x="1173450" y="442200"/>
            <a:ext cx="6797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600">
                <a:solidFill>
                  <a:srgbClr val="6AA84F"/>
                </a:solidFill>
                <a:latin typeface="Noto Sans"/>
                <a:ea typeface="Noto Sans"/>
                <a:cs typeface="Noto Sans"/>
                <a:sym typeface="Noto Sans"/>
              </a:rPr>
              <a:t>Agregación</a:t>
            </a:r>
            <a:endParaRPr b="1" sz="2600">
              <a:solidFill>
                <a:srgbClr val="6AA84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71" name="Google Shape;17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4588" y="1219350"/>
            <a:ext cx="5494825" cy="3248426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5"/>
          <p:cNvSpPr txBox="1"/>
          <p:nvPr/>
        </p:nvSpPr>
        <p:spPr>
          <a:xfrm>
            <a:off x="1173450" y="4804800"/>
            <a:ext cx="2949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rgbClr val="999999"/>
                </a:solidFill>
                <a:latin typeface="Noto Sans"/>
                <a:ea typeface="Noto Sans"/>
                <a:cs typeface="Noto Sans"/>
                <a:sym typeface="Noto Sans"/>
              </a:rPr>
              <a:t>Bases de Datos I - Ing. Nury Farelo</a:t>
            </a:r>
            <a:endParaRPr sz="1000">
              <a:solidFill>
                <a:srgbClr val="999999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/>
          <p:cNvSpPr txBox="1"/>
          <p:nvPr/>
        </p:nvSpPr>
        <p:spPr>
          <a:xfrm>
            <a:off x="1173450" y="442200"/>
            <a:ext cx="6797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600">
                <a:solidFill>
                  <a:srgbClr val="6AA84F"/>
                </a:solidFill>
                <a:latin typeface="Noto Sans"/>
                <a:ea typeface="Noto Sans"/>
                <a:cs typeface="Noto Sans"/>
                <a:sym typeface="Noto Sans"/>
              </a:rPr>
              <a:t>Agregación</a:t>
            </a:r>
            <a:endParaRPr b="1" sz="2600">
              <a:solidFill>
                <a:srgbClr val="6AA84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78" name="Google Shape;17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7348" y="1187550"/>
            <a:ext cx="4249301" cy="331132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6"/>
          <p:cNvSpPr txBox="1"/>
          <p:nvPr/>
        </p:nvSpPr>
        <p:spPr>
          <a:xfrm>
            <a:off x="1173450" y="4804800"/>
            <a:ext cx="2949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rgbClr val="999999"/>
                </a:solidFill>
                <a:latin typeface="Noto Sans"/>
                <a:ea typeface="Noto Sans"/>
                <a:cs typeface="Noto Sans"/>
                <a:sym typeface="Noto Sans"/>
              </a:rPr>
              <a:t>Bases de Datos I - Ing. Nury Farelo</a:t>
            </a:r>
            <a:endParaRPr sz="1000">
              <a:solidFill>
                <a:srgbClr val="999999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7"/>
          <p:cNvSpPr txBox="1"/>
          <p:nvPr/>
        </p:nvSpPr>
        <p:spPr>
          <a:xfrm>
            <a:off x="1173450" y="442200"/>
            <a:ext cx="6797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600">
                <a:solidFill>
                  <a:srgbClr val="6AA84F"/>
                </a:solidFill>
                <a:latin typeface="Noto Sans"/>
                <a:ea typeface="Noto Sans"/>
                <a:cs typeface="Noto Sans"/>
                <a:sym typeface="Noto Sans"/>
              </a:rPr>
              <a:t>Exclusión</a:t>
            </a:r>
            <a:endParaRPr b="1" sz="2600">
              <a:solidFill>
                <a:srgbClr val="6AA84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5" name="Google Shape;185;p27"/>
          <p:cNvSpPr txBox="1"/>
          <p:nvPr/>
        </p:nvSpPr>
        <p:spPr>
          <a:xfrm>
            <a:off x="1076413" y="1155700"/>
            <a:ext cx="6991200" cy="31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rgbClr val="333333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Imaginemos dos entidades. Una entidad «</a:t>
            </a:r>
            <a:r>
              <a:rPr b="1" lang="es-419">
                <a:solidFill>
                  <a:schemeClr val="dk1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Profesor</a:t>
            </a:r>
            <a:r>
              <a:rPr lang="es-419">
                <a:solidFill>
                  <a:srgbClr val="333333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» y una entidad «</a:t>
            </a:r>
            <a:r>
              <a:rPr b="1" lang="es-419">
                <a:solidFill>
                  <a:schemeClr val="dk1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Curso</a:t>
            </a:r>
            <a:r>
              <a:rPr lang="es-419">
                <a:solidFill>
                  <a:srgbClr val="333333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».</a:t>
            </a:r>
            <a:endParaRPr>
              <a:solidFill>
                <a:srgbClr val="333333"/>
              </a:solidFill>
              <a:highlight>
                <a:srgbClr val="FFFFFF"/>
              </a:highlight>
              <a:latin typeface="Noto Sans"/>
              <a:ea typeface="Noto Sans"/>
              <a:cs typeface="Noto Sans"/>
              <a:sym typeface="Noto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Roboto"/>
              <a:buChar char="●"/>
            </a:pPr>
            <a:r>
              <a:rPr lang="es-419">
                <a:solidFill>
                  <a:srgbClr val="333333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En primer lugar, </a:t>
            </a:r>
            <a:r>
              <a:rPr b="1" lang="es-419">
                <a:solidFill>
                  <a:schemeClr val="dk1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un profesor puede impartir un curso</a:t>
            </a:r>
            <a:r>
              <a:rPr lang="es-419">
                <a:solidFill>
                  <a:srgbClr val="333333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. Por lo tanto, tendríamos una relación entre ambas entidades.</a:t>
            </a:r>
            <a:endParaRPr>
              <a:solidFill>
                <a:srgbClr val="333333"/>
              </a:solidFill>
              <a:highlight>
                <a:srgbClr val="FFFFFF"/>
              </a:highlight>
              <a:latin typeface="Noto Sans"/>
              <a:ea typeface="Noto Sans"/>
              <a:cs typeface="Noto Sans"/>
              <a:sym typeface="Noto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Roboto"/>
              <a:buChar char="●"/>
            </a:pPr>
            <a:r>
              <a:rPr lang="es-419">
                <a:solidFill>
                  <a:srgbClr val="333333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Sin embargo, </a:t>
            </a:r>
            <a:r>
              <a:rPr b="1" lang="es-419">
                <a:solidFill>
                  <a:schemeClr val="dk1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un profesor también podría recibir un curso</a:t>
            </a:r>
            <a:r>
              <a:rPr lang="es-419">
                <a:solidFill>
                  <a:srgbClr val="333333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. En este caso tendríamos otra relación.</a:t>
            </a:r>
            <a:endParaRPr>
              <a:solidFill>
                <a:srgbClr val="333333"/>
              </a:solidFill>
              <a:highlight>
                <a:srgbClr val="FFFFFF"/>
              </a:highlight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rgbClr val="333333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Por consiguiente, teniendo esto en cuenta, podemos decir que </a:t>
            </a:r>
            <a:r>
              <a:rPr b="1" lang="es-419">
                <a:solidFill>
                  <a:schemeClr val="dk1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un profesor o bien imparte un curso, o bien lo recibe</a:t>
            </a:r>
            <a:r>
              <a:rPr lang="es-419">
                <a:solidFill>
                  <a:srgbClr val="333333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. En este caso se daría una restricción de exclusión.</a:t>
            </a:r>
            <a:endParaRPr>
              <a:solidFill>
                <a:srgbClr val="333333"/>
              </a:solidFill>
              <a:highlight>
                <a:srgbClr val="FFFFFF"/>
              </a:highlight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ctr"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rgbClr val="333333"/>
              </a:solidFill>
              <a:highlight>
                <a:srgbClr val="FFFFFF"/>
              </a:highlight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86" name="Google Shape;18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9638" y="3648945"/>
            <a:ext cx="4244774" cy="106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7"/>
          <p:cNvSpPr txBox="1"/>
          <p:nvPr/>
        </p:nvSpPr>
        <p:spPr>
          <a:xfrm>
            <a:off x="1173450" y="4804800"/>
            <a:ext cx="2949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rgbClr val="999999"/>
                </a:solidFill>
                <a:latin typeface="Noto Sans"/>
                <a:ea typeface="Noto Sans"/>
                <a:cs typeface="Noto Sans"/>
                <a:sym typeface="Noto Sans"/>
              </a:rPr>
              <a:t>Bases de Datos I - Ing. Nury Farelo</a:t>
            </a:r>
            <a:endParaRPr sz="1000">
              <a:solidFill>
                <a:srgbClr val="999999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8"/>
          <p:cNvSpPr txBox="1"/>
          <p:nvPr/>
        </p:nvSpPr>
        <p:spPr>
          <a:xfrm>
            <a:off x="1610625" y="842350"/>
            <a:ext cx="6797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600">
                <a:solidFill>
                  <a:srgbClr val="6AA84F"/>
                </a:solidFill>
                <a:latin typeface="Noto Sans"/>
                <a:ea typeface="Noto Sans"/>
                <a:cs typeface="Noto Sans"/>
                <a:sym typeface="Noto Sans"/>
              </a:rPr>
              <a:t>Próxima Clase</a:t>
            </a:r>
            <a:endParaRPr b="1" sz="2600">
              <a:solidFill>
                <a:srgbClr val="6AA84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3" name="Google Shape;193;p28"/>
          <p:cNvSpPr txBox="1"/>
          <p:nvPr/>
        </p:nvSpPr>
        <p:spPr>
          <a:xfrm>
            <a:off x="1372813" y="1694400"/>
            <a:ext cx="69912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333333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Consultar en qué consisten los 2 principales problemas de los modelos E-R:</a:t>
            </a:r>
            <a:endParaRPr sz="1500">
              <a:solidFill>
                <a:srgbClr val="333333"/>
              </a:solidFill>
              <a:highlight>
                <a:srgbClr val="FFFFFF"/>
              </a:highlight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33333"/>
              </a:solidFill>
              <a:highlight>
                <a:srgbClr val="FFFFFF"/>
              </a:highlight>
              <a:latin typeface="Noto Sans"/>
              <a:ea typeface="Noto Sans"/>
              <a:cs typeface="Noto Sans"/>
              <a:sym typeface="Noto Sans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Noto Sans"/>
              <a:buChar char="-"/>
            </a:pPr>
            <a:r>
              <a:rPr lang="es-419" sz="1500">
                <a:solidFill>
                  <a:srgbClr val="333333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La trampa del abanico (est. código par)</a:t>
            </a:r>
            <a:endParaRPr sz="1500">
              <a:solidFill>
                <a:srgbClr val="333333"/>
              </a:solidFill>
              <a:highlight>
                <a:srgbClr val="FFFFFF"/>
              </a:highlight>
              <a:latin typeface="Noto Sans"/>
              <a:ea typeface="Noto Sans"/>
              <a:cs typeface="Noto Sans"/>
              <a:sym typeface="Noto Sans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Noto Sans"/>
              <a:buChar char="-"/>
            </a:pPr>
            <a:r>
              <a:rPr lang="es-419" sz="1500">
                <a:solidFill>
                  <a:srgbClr val="333333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La trampa del sumidero (est. código impar)</a:t>
            </a:r>
            <a:endParaRPr sz="1750">
              <a:solidFill>
                <a:srgbClr val="333333"/>
              </a:solidFill>
              <a:highlight>
                <a:srgbClr val="FFFFFF"/>
              </a:highlight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4" name="Google Shape;194;p28"/>
          <p:cNvSpPr txBox="1"/>
          <p:nvPr/>
        </p:nvSpPr>
        <p:spPr>
          <a:xfrm>
            <a:off x="1173450" y="4804800"/>
            <a:ext cx="2949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rgbClr val="999999"/>
                </a:solidFill>
                <a:latin typeface="Noto Sans"/>
                <a:ea typeface="Noto Sans"/>
                <a:cs typeface="Noto Sans"/>
                <a:sym typeface="Noto Sans"/>
              </a:rPr>
              <a:t>Bases de Datos I - Ing. Nury Farelo</a:t>
            </a:r>
            <a:endParaRPr sz="1000">
              <a:solidFill>
                <a:srgbClr val="999999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6488" y="371425"/>
            <a:ext cx="4371026" cy="4400652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9"/>
          <p:cNvSpPr txBox="1"/>
          <p:nvPr/>
        </p:nvSpPr>
        <p:spPr>
          <a:xfrm>
            <a:off x="1173450" y="4804800"/>
            <a:ext cx="2949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rgbClr val="999999"/>
                </a:solidFill>
                <a:latin typeface="Noto Sans"/>
                <a:ea typeface="Noto Sans"/>
                <a:cs typeface="Noto Sans"/>
                <a:sym typeface="Noto Sans"/>
              </a:rPr>
              <a:t>Bases de Datos I - Ing. Nury Farelo</a:t>
            </a:r>
            <a:endParaRPr sz="1000">
              <a:solidFill>
                <a:srgbClr val="999999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0"/>
          <p:cNvSpPr txBox="1"/>
          <p:nvPr/>
        </p:nvSpPr>
        <p:spPr>
          <a:xfrm>
            <a:off x="1417975" y="790475"/>
            <a:ext cx="6797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600">
                <a:solidFill>
                  <a:srgbClr val="6AA84F"/>
                </a:solidFill>
                <a:latin typeface="Noto Sans"/>
                <a:ea typeface="Noto Sans"/>
                <a:cs typeface="Noto Sans"/>
                <a:sym typeface="Noto Sans"/>
              </a:rPr>
              <a:t>Ejercicio</a:t>
            </a:r>
            <a:endParaRPr b="1" sz="2600">
              <a:solidFill>
                <a:srgbClr val="6AA84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6" name="Google Shape;206;p30"/>
          <p:cNvSpPr txBox="1"/>
          <p:nvPr/>
        </p:nvSpPr>
        <p:spPr>
          <a:xfrm>
            <a:off x="1173438" y="1644750"/>
            <a:ext cx="69912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900">
                <a:solidFill>
                  <a:srgbClr val="333333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Teniendo en cuenta lo visto del modelo E-R extendido, en grupos realizar el ajuste al modelo E-R creado para el problema del Taller Grupal (Game of Thrones).</a:t>
            </a:r>
            <a:endParaRPr sz="1900">
              <a:solidFill>
                <a:srgbClr val="333333"/>
              </a:solidFill>
              <a:highlight>
                <a:srgbClr val="FFFFFF"/>
              </a:highlight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s-419" sz="1900">
                <a:solidFill>
                  <a:srgbClr val="333333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Crear dicho modelo de forma digital y subirlo a la actividad en el aula virtual</a:t>
            </a:r>
            <a:endParaRPr sz="1900">
              <a:solidFill>
                <a:srgbClr val="333333"/>
              </a:solidFill>
              <a:highlight>
                <a:srgbClr val="FFFFFF"/>
              </a:highlight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7" name="Google Shape;207;p30"/>
          <p:cNvSpPr txBox="1"/>
          <p:nvPr/>
        </p:nvSpPr>
        <p:spPr>
          <a:xfrm>
            <a:off x="1173450" y="4804800"/>
            <a:ext cx="2949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rgbClr val="999999"/>
                </a:solidFill>
                <a:latin typeface="Noto Sans"/>
                <a:ea typeface="Noto Sans"/>
                <a:cs typeface="Noto Sans"/>
                <a:sym typeface="Noto Sans"/>
              </a:rPr>
              <a:t>Bases de Datos I - Ing. Nury Farelo</a:t>
            </a:r>
            <a:endParaRPr sz="1000">
              <a:solidFill>
                <a:srgbClr val="999999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